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1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Bricolage Grotesque Extra Bold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libri Light" panose="020F0302020204030204" pitchFamily="34" charset="0"/>
      <p:regular r:id="rId19"/>
      <p:italic r:id="rId20"/>
    </p:embeddedFont>
    <p:embeddedFont>
      <p:font typeface="Montserrat" panose="020B0604020202020204" charset="-52"/>
      <p:regular r:id="rId2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2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9657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92007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21578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56878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36839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71412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68141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90659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20668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76571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69155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15893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8365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73133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26078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48596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74165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19080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5159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5615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0257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0106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0285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1476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45650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Политика информационной безопасности оператора мобильной связи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552092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Выполнила студентка 3 курса 7 группы Шинкевич Марина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9684"/>
            <a:ext cx="13042821" cy="567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Политика информационной безопасности (ПИБ) оператора мобильной связи — это совокупность правил, процедур, методик и организационных решений, направленных на обеспечение защиты информации, информационных ресурсов и телекоммуникационной инфраструктуры компании</a:t>
            </a:r>
            <a:endParaRPr lang="en-US" sz="4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3818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Почему это важно сейчас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722721"/>
            <a:ext cx="215038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Объем данных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658195"/>
            <a:ext cx="2150388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Операторы ежедневно обрабатывают огромные объемы персональных данных, трафика и платежной информации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3505200" y="2722721"/>
            <a:ext cx="255508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Расширение сервисов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505200" y="3658195"/>
            <a:ext cx="255508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Мобильный интернет, облачные услуги и цифровые платформы повышают требования к защите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621304" y="2722721"/>
            <a:ext cx="174402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Растущие угрозы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621304" y="3658195"/>
            <a:ext cx="1744028" cy="3629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Увеличение объемов хранимых данных повышает риски утечки и несанкционированного доступа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63197"/>
            <a:ext cx="93068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Цель и задачи разработки ПИБ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25604"/>
            <a:ext cx="6407944" cy="3540800"/>
          </a:xfrm>
          <a:prstGeom prst="roundRect">
            <a:avLst>
              <a:gd name="adj" fmla="val 2691"/>
            </a:avLst>
          </a:prstGeom>
          <a:solidFill>
            <a:srgbClr val="282D5E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315241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EAEF6"/>
          </a:solidFill>
          <a:ln/>
        </p:spPr>
      </p:sp>
      <p:sp>
        <p:nvSpPr>
          <p:cNvPr id="6" name="Text 3"/>
          <p:cNvSpPr/>
          <p:nvPr/>
        </p:nvSpPr>
        <p:spPr>
          <a:xfrm>
            <a:off x="1020604" y="40596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Цель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550093"/>
            <a:ext cx="59543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эффективной политики информационной безопасности для оператора мобильной связи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925604"/>
            <a:ext cx="6408063" cy="3540800"/>
          </a:xfrm>
          <a:prstGeom prst="roundRect">
            <a:avLst>
              <a:gd name="adj" fmla="val 2691"/>
            </a:avLst>
          </a:prstGeom>
          <a:solidFill>
            <a:srgbClr val="282D5E"/>
          </a:solidFill>
          <a:ln/>
        </p:spPr>
      </p:sp>
      <p:sp>
        <p:nvSpPr>
          <p:cNvPr id="9" name="Shape 6"/>
          <p:cNvSpPr/>
          <p:nvPr/>
        </p:nvSpPr>
        <p:spPr>
          <a:xfrm>
            <a:off x="7655362" y="315241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EAEF6"/>
          </a:solidFill>
          <a:ln/>
        </p:spPr>
      </p:sp>
      <p:sp>
        <p:nvSpPr>
          <p:cNvPr id="11" name="Text 7"/>
          <p:cNvSpPr/>
          <p:nvPr/>
        </p:nvSpPr>
        <p:spPr>
          <a:xfrm>
            <a:off x="7655362" y="40596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Задачи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5362" y="4550093"/>
            <a:ext cx="5954435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Классификация объектов защиты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угроз и рисков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концепции политики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Определение этапов внедрения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4020"/>
            <a:ext cx="117939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Организационная структура оператора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96428"/>
            <a:ext cx="2173724" cy="1669852"/>
          </a:xfrm>
          <a:prstGeom prst="roundRect">
            <a:avLst>
              <a:gd name="adj" fmla="val 5705"/>
            </a:avLst>
          </a:prstGeom>
          <a:solidFill>
            <a:srgbClr val="282D5E"/>
          </a:solidFill>
          <a:ln/>
        </p:spPr>
      </p:sp>
      <p:sp>
        <p:nvSpPr>
          <p:cNvPr id="5" name="Text 2"/>
          <p:cNvSpPr/>
          <p:nvPr/>
        </p:nvSpPr>
        <p:spPr>
          <a:xfrm>
            <a:off x="3194328" y="2123242"/>
            <a:ext cx="33735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Руководящий уровень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194328" y="2613660"/>
            <a:ext cx="104154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Генеральный директор определяет стратегию развития и контролирует деятельность всех подразделений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3080861" y="3551039"/>
            <a:ext cx="10642402" cy="15240"/>
          </a:xfrm>
          <a:prstGeom prst="roundRect">
            <a:avLst>
              <a:gd name="adj" fmla="val 625116"/>
            </a:avLst>
          </a:prstGeom>
          <a:solidFill>
            <a:srgbClr val="414677"/>
          </a:solidFill>
          <a:ln/>
        </p:spPr>
      </p:sp>
      <p:sp>
        <p:nvSpPr>
          <p:cNvPr id="8" name="Shape 5"/>
          <p:cNvSpPr/>
          <p:nvPr/>
        </p:nvSpPr>
        <p:spPr>
          <a:xfrm>
            <a:off x="793790" y="3679627"/>
            <a:ext cx="4347567" cy="1669852"/>
          </a:xfrm>
          <a:prstGeom prst="roundRect">
            <a:avLst>
              <a:gd name="adj" fmla="val 5705"/>
            </a:avLst>
          </a:prstGeom>
          <a:solidFill>
            <a:srgbClr val="282D5E"/>
          </a:solidFill>
          <a:ln/>
        </p:spPr>
      </p:sp>
      <p:sp>
        <p:nvSpPr>
          <p:cNvPr id="10" name="Text 6"/>
          <p:cNvSpPr/>
          <p:nvPr/>
        </p:nvSpPr>
        <p:spPr>
          <a:xfrm>
            <a:off x="5368171" y="3906441"/>
            <a:ext cx="44453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Средний уровень управления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368171" y="4396859"/>
            <a:ext cx="824162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Руководители подразделений: технический отдел, IT, продажи, маркетинг, безопасность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254704" y="5334238"/>
            <a:ext cx="8468558" cy="15240"/>
          </a:xfrm>
          <a:prstGeom prst="roundRect">
            <a:avLst>
              <a:gd name="adj" fmla="val 625116"/>
            </a:avLst>
          </a:prstGeom>
          <a:solidFill>
            <a:srgbClr val="414677"/>
          </a:solidFill>
          <a:ln/>
        </p:spPr>
      </p:sp>
      <p:sp>
        <p:nvSpPr>
          <p:cNvPr id="13" name="Shape 9"/>
          <p:cNvSpPr/>
          <p:nvPr/>
        </p:nvSpPr>
        <p:spPr>
          <a:xfrm>
            <a:off x="793790" y="5462826"/>
            <a:ext cx="6521410" cy="2032754"/>
          </a:xfrm>
          <a:prstGeom prst="roundRect">
            <a:avLst>
              <a:gd name="adj" fmla="val 4687"/>
            </a:avLst>
          </a:prstGeom>
          <a:solidFill>
            <a:srgbClr val="282D5E"/>
          </a:solidFill>
          <a:ln/>
        </p:spPr>
      </p:sp>
      <p:sp>
        <p:nvSpPr>
          <p:cNvPr id="15" name="Text 10"/>
          <p:cNvSpPr/>
          <p:nvPr/>
        </p:nvSpPr>
        <p:spPr>
          <a:xfrm>
            <a:off x="7542014" y="5689640"/>
            <a:ext cx="50387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Функциональные подразделения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42014" y="6180058"/>
            <a:ext cx="606778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Отделы продаж, технический отдел, IT, маркетинг, служба безопасности с узкоспециализированными ролями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858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Объекты защиты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071455"/>
            <a:ext cx="29539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Цифровые объекты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561874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Базы данных абонентов, биллинговые системы, корпоративная почта, веб-сайты оператора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7456884" y="3071455"/>
            <a:ext cx="32117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Физические объекты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561874"/>
            <a:ext cx="637972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Серверное оборудование, сетевые устройства, базовые станции, рабочие станции, устройства хранения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793790" y="5954673"/>
            <a:ext cx="42941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Коммуникационные каналы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445091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Каналы передачи данных, интернет-соединения, корпоративная почта с шифрованием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7456884" y="59546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Учетные записи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445091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Логины, пароли, данные аутентификации с многофакторной защитой и разграничением прав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6475"/>
            <a:ext cx="71442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Субъекты безопасности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88883"/>
            <a:ext cx="6407944" cy="2093714"/>
          </a:xfrm>
          <a:prstGeom prst="roundRect">
            <a:avLst>
              <a:gd name="adj" fmla="val 4550"/>
            </a:avLst>
          </a:prstGeom>
          <a:solidFill>
            <a:srgbClr val="090E3F"/>
          </a:solidFill>
          <a:ln w="30480">
            <a:solidFill>
              <a:srgbClr val="4146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2746177"/>
            <a:ext cx="34176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Сотрудники компании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3236595"/>
            <a:ext cx="58933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Различный уровень доступа в зависимости от обязанностей: обслуживание, техническая поддержка, финансовые операции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488883"/>
            <a:ext cx="6408063" cy="2093714"/>
          </a:xfrm>
          <a:prstGeom prst="roundRect">
            <a:avLst>
              <a:gd name="adj" fmla="val 4550"/>
            </a:avLst>
          </a:prstGeom>
          <a:solidFill>
            <a:srgbClr val="090E3F"/>
          </a:solidFill>
          <a:ln w="30480">
            <a:solidFill>
              <a:srgbClr val="4146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5842" y="2746177"/>
            <a:ext cx="31331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Абоненты и клиенты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85842" y="3236595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Доступ к ресурсам через веб-сайты, мобильные приложения и личные кабинеты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809411"/>
            <a:ext cx="6407944" cy="2093714"/>
          </a:xfrm>
          <a:prstGeom prst="roundRect">
            <a:avLst>
              <a:gd name="adj" fmla="val 4550"/>
            </a:avLst>
          </a:prstGeom>
          <a:solidFill>
            <a:srgbClr val="090E3F"/>
          </a:solidFill>
          <a:ln w="30480">
            <a:solidFill>
              <a:srgbClr val="4146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084" y="5066705"/>
            <a:ext cx="36773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Партнёры и подрядчики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084" y="5557123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Поставщики оборудования, разработчики ПО с защищенными каналами обмена данными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809411"/>
            <a:ext cx="6408063" cy="2093714"/>
          </a:xfrm>
          <a:prstGeom prst="roundRect">
            <a:avLst>
              <a:gd name="adj" fmla="val 4550"/>
            </a:avLst>
          </a:prstGeom>
          <a:solidFill>
            <a:srgbClr val="090E3F"/>
          </a:solidFill>
          <a:ln w="30480">
            <a:solidFill>
              <a:srgbClr val="4146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5842" y="5066705"/>
            <a:ext cx="46892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Автоматизированные системы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5557123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Биллинговые системы, мониторинг сети, аналитические платформы обрабатывающие данные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68561"/>
            <a:ext cx="65229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Классификация угроз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1917502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674" y="21443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Естественные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154674" y="2634734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Природные катастрофы, климатические условия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278386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4674" y="3505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Искусственные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154674" y="3995618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Кибератаки, ошибки персонала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4639270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54674" y="4866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Преднамеренные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154674" y="5356503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Взломы, шпионаж, мошенничество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6000155"/>
            <a:ext cx="1134070" cy="13608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154674" y="6226969"/>
            <a:ext cx="29996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Непреднамеренные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2154674" y="6717387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Ошибки, сбои, недостаточная квалификация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956" y="629364"/>
            <a:ext cx="9075777" cy="703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Оценка рисков: матрица угроз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7956" y="1892498"/>
            <a:ext cx="4165282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1.5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63397" y="2915483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Критический риск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7956" y="3401378"/>
            <a:ext cx="4165282" cy="2870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Компрометация учетных данных через фишинг (это ситуация, когда злоумышленники с помощью </a:t>
            </a: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фишинговой атаки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получают </a:t>
            </a: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логин и пароль сотрудника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используют их для несанкционированного доступа к системам компании.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2559" y="1892498"/>
            <a:ext cx="4165282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1.2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908000" y="2915483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Критический риск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2559" y="3401378"/>
            <a:ext cx="4165282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Ошибка администратора при настройке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162" y="1892498"/>
            <a:ext cx="4165282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0.8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52603" y="2915483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Высокий риск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162" y="3401378"/>
            <a:ext cx="4165282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Утечка персональных данных абонентов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87956" y="6523553"/>
            <a:ext cx="13054489" cy="107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Порог критичности: </a:t>
            </a: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 &gt; 0.6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Наибольшую угрозу представляют массовые угрозы с высокой вероятностью возникновения. Риск (R) определяется как произведение потенциального Ущерба (U)(от 0-5) и Вероятности (P)(0-0,5 исходя из частоты) его возникновения: </a:t>
            </a: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 = U × P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3385" y="1311473"/>
            <a:ext cx="6685240" cy="538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Приоритетные меры защиты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1363385" y="2112883"/>
            <a:ext cx="172403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01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363385" y="2383155"/>
            <a:ext cx="5886212" cy="2286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5" name="Text 3"/>
          <p:cNvSpPr/>
          <p:nvPr/>
        </p:nvSpPr>
        <p:spPr>
          <a:xfrm>
            <a:off x="1363385" y="2515076"/>
            <a:ext cx="4612005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Организационно-правовое обеспечение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63385" y="2863215"/>
            <a:ext cx="5886212" cy="121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Принцип наименьших привилегий (права доступа предоставляются только в объёме, необходимом для выполнения должностных обязанностей), разделение обязанностей, NDA(</a:t>
            </a:r>
            <a:r>
              <a:rPr lang="en-US" sz="13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соглашение о неразглашении конфиденциальной информации</a:t>
            </a: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), ежеквартальные тренинги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80803" y="2112883"/>
            <a:ext cx="172403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02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80803" y="2383155"/>
            <a:ext cx="5886212" cy="2286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9" name="Text 7"/>
          <p:cNvSpPr/>
          <p:nvPr/>
        </p:nvSpPr>
        <p:spPr>
          <a:xfrm>
            <a:off x="7380803" y="2515076"/>
            <a:ext cx="3660696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Программно-технические меры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380803" y="2863215"/>
            <a:ext cx="5886212" cy="1457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Многофакторная аутентификация(способ входа в систему, при котором пользователь должен подтвердить свою личность </a:t>
            </a:r>
            <a:r>
              <a:rPr lang="en-US" sz="13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несколькими факторами)</a:t>
            </a: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VPN-туннели(</a:t>
            </a:r>
            <a:r>
              <a:rPr lang="en-US" sz="13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защищенные каналы связи через интернет</a:t>
            </a: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которые шифруют передаваемые данные), шифрование дисков, сегментация сети (</a:t>
            </a:r>
            <a:r>
              <a:rPr lang="en-US" sz="13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разделение корпоративной сети на отдельные изолированные сегменты)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63385" y="4581049"/>
            <a:ext cx="172403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363385" y="4851321"/>
            <a:ext cx="5886212" cy="2286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3" name="Text 11"/>
          <p:cNvSpPr/>
          <p:nvPr/>
        </p:nvSpPr>
        <p:spPr>
          <a:xfrm>
            <a:off x="1363385" y="4983242"/>
            <a:ext cx="4143732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Безопасность процессов разработки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63385" y="5331381"/>
            <a:ext cx="5886212" cy="1457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Code Review (процесс проверки программного кода другими разработчиками перед его включением в основную версию системы), автоматизированные средства </a:t>
            </a:r>
            <a:r>
              <a:rPr lang="en-US" sz="13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статического (SAST) и динамического (DAST) анализа безопасности</a:t>
            </a: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сканирование секретов (автоматическая проверка кода и репозиториев на наличие </a:t>
            </a:r>
            <a:r>
              <a:rPr lang="en-US" sz="13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конфиденциальных данных)</a:t>
            </a: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проверка зависимостей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80803" y="4581049"/>
            <a:ext cx="172403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80803" y="4851321"/>
            <a:ext cx="5886212" cy="2286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80803" y="4983242"/>
            <a:ext cx="4642128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Доступность и физическая безопасность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380803" y="5331381"/>
            <a:ext cx="5886212" cy="1457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Резервное копирование 3-2-1(три копии на двух типах носителей, одна копия хранится вне офиса в защищённом облаке), immutable-бэкапы(резервные копии, </a:t>
            </a:r>
            <a:r>
              <a:rPr lang="en-US" sz="13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которые нельзя изменить или удалить в течение определенного времени) </a:t>
            </a: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СКУД (система контроля и управления доступом), автоматическая блокировка рабочих станций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854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Ключевые выводы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134433"/>
            <a:ext cx="3664744" cy="3112889"/>
          </a:xfrm>
          <a:prstGeom prst="roundRect">
            <a:avLst>
              <a:gd name="adj" fmla="val 3060"/>
            </a:avLst>
          </a:prstGeom>
          <a:solidFill>
            <a:srgbClr val="282D5E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2361248"/>
            <a:ext cx="3211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Человеческий фактор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205996"/>
            <a:ext cx="3211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Фишинг и ошибки сотрудников — основные источники инцидентов. Требуется регулярное обучение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2134433"/>
            <a:ext cx="3664863" cy="3112889"/>
          </a:xfrm>
          <a:prstGeom prst="roundRect">
            <a:avLst>
              <a:gd name="adj" fmla="val 3060"/>
            </a:avLst>
          </a:prstGeom>
          <a:solidFill>
            <a:srgbClr val="282D5E"/>
          </a:solidFill>
          <a:ln/>
        </p:spPr>
      </p:sp>
      <p:sp>
        <p:nvSpPr>
          <p:cNvPr id="8" name="Text 5"/>
          <p:cNvSpPr/>
          <p:nvPr/>
        </p:nvSpPr>
        <p:spPr>
          <a:xfrm>
            <a:off x="4912162" y="2361248"/>
            <a:ext cx="31624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Критичность данных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162" y="2851666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Утечка персональных данных и компрометация биллинга — максимальный ущерб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474137"/>
            <a:ext cx="7556421" cy="1669852"/>
          </a:xfrm>
          <a:prstGeom prst="roundRect">
            <a:avLst>
              <a:gd name="adj" fmla="val 5705"/>
            </a:avLst>
          </a:prstGeom>
          <a:solidFill>
            <a:srgbClr val="282D5E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5700951"/>
            <a:ext cx="32327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Комплексный подход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6191369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Необходимо сочетание организационных, технических и физических мер защиты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639</Words>
  <Application>Microsoft Office PowerPoint</Application>
  <PresentationFormat>Произвольный</PresentationFormat>
  <Paragraphs>94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Bricolage Grotesque Extra Bold</vt:lpstr>
      <vt:lpstr>Arial</vt:lpstr>
      <vt:lpstr>Calibri</vt:lpstr>
      <vt:lpstr>Calibri Light</vt:lpstr>
      <vt:lpstr>Bricolage Grotesque Light</vt:lpstr>
      <vt:lpstr>Montserrat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User</dc:creator>
  <cp:lastModifiedBy>User</cp:lastModifiedBy>
  <cp:revision>2</cp:revision>
  <dcterms:created xsi:type="dcterms:W3CDTF">2026-03-07T05:59:32Z</dcterms:created>
  <dcterms:modified xsi:type="dcterms:W3CDTF">2026-03-07T06:04:48Z</dcterms:modified>
</cp:coreProperties>
</file>